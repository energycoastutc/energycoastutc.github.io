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10691813" cy="7559675"/>
  <p:notesSz cx="7559675" cy="10691813"/>
  <p:embeddedFontLst>
    <p:embeddedFont>
      <p:font typeface="Century Gothic" panose="020B0502020202020204" pitchFamily="34" charset="0"/>
      <p:regular r:id="rId104"/>
      <p:bold r:id="rId105"/>
      <p:italic r:id="rId106"/>
      <p:boldItalic r:id="rId10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00490F-98F2-43BE-99F9-DE2E7158CD11}">
  <a:tblStyle styleId="{9100490F-98F2-43BE-99F9-DE2E7158CD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260" y="36"/>
      </p:cViewPr>
      <p:guideLst>
        <p:guide orient="horz" pos="2381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Wilson" userId="d04733ce-5ebc-4d67-88bd-2d856d01e45b" providerId="ADAL" clId="{B354581A-E1FB-4459-A40B-E7EE5274FA07}"/>
    <pc:docChg chg="addSld modSld">
      <pc:chgData name="Stephen Wilson" userId="d04733ce-5ebc-4d67-88bd-2d856d01e45b" providerId="ADAL" clId="{B354581A-E1FB-4459-A40B-E7EE5274FA07}" dt="2025-05-30T17:42:53.868" v="171" actId="729"/>
      <pc:docMkLst>
        <pc:docMk/>
      </pc:docMkLst>
      <pc:sldChg chg="modSp add mod modShow">
        <pc:chgData name="Stephen Wilson" userId="d04733ce-5ebc-4d67-88bd-2d856d01e45b" providerId="ADAL" clId="{B354581A-E1FB-4459-A40B-E7EE5274FA07}" dt="2025-05-30T17:42:53.868" v="171" actId="729"/>
        <pc:sldMkLst>
          <pc:docMk/>
          <pc:sldMk cId="694767630" sldId="356"/>
        </pc:sldMkLst>
        <pc:graphicFrameChg chg="modGraphic">
          <ac:chgData name="Stephen Wilson" userId="d04733ce-5ebc-4d67-88bd-2d856d01e45b" providerId="ADAL" clId="{B354581A-E1FB-4459-A40B-E7EE5274FA07}" dt="2025-05-30T17:42:49.779" v="170" actId="20577"/>
          <ac:graphicFrameMkLst>
            <pc:docMk/>
            <pc:sldMk cId="694767630" sldId="356"/>
            <ac:graphicFrameMk id="54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4515" y="685800"/>
            <a:ext cx="4849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f807267c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f807267c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7f807267c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7f807267c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f807267c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f807267c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f807267c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f807267c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f807267c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f807267c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f807267c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f807267c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f807267c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f807267c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f807267c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f807267c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f807267c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f807267c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f807267c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f807267c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f807267c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f807267c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f807267c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f807267c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f807267cc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f807267cc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f807267c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f807267c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f807267c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f807267c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f807267c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f807267c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f807267c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f807267c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f807267c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f807267c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f807267cc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f807267cc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f807267c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7f807267c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f807267c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f807267c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f807267c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f807267cc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f807267c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f807267c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f807267c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f807267c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f807267c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f807267c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f807267c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f807267c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f807267c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f807267c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f807267c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f807267c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f807267cc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f807267cc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f807267c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f807267c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f807267c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f807267c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f807267c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f807267cc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f807267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f807267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f807267c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f807267c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f807267c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f807267c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f807267c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f807267c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f807267c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f807267c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f807267cc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7f807267cc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f807267c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f807267c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7f807267c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f807267c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f807267c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7f807267c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f807267cc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f807267cc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f807267cc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f807267cc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7f807267c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7f807267c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f807267cc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f807267cc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f807267cc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7f807267cc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f807267cc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f807267cc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7f807267c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7f807267c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7f807267cc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7f807267cc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f807267c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f807267cc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f807267c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7f807267c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f807267c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7f807267c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f807267cc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7f807267cc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7f807267c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7f807267c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7f807267c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7f807267cc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f807267c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f807267cc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7f807267cc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7f807267cc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7f807267cc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7f807267cc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7f807267c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7f807267cc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7f807267c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7f807267c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7f807267cc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7f807267cc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f807267c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7f807267c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7f807267cc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7f807267cc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7f807267c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7f807267cc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7f807267cc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7f807267cc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7f807267c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7f807267cc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7f807267cc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7f807267cc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7f807267c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7f807267c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7f807267cc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7f807267cc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7f807267c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7f807267c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7f807267cc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7f807267cc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7f807267cc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7f807267cc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7f807267cc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7f807267cc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7f807267c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7f807267c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7f807267cc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7f807267cc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7f807267cc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7f807267cc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7f807267cc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7f807267cc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7f807267cc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7f807267cc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7f807267cc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7f807267cc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7f807267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7f807267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7f807267c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7f807267c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7f807267cc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7f807267cc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7f807267cc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7f807267cc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7f807267cc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7f807267cc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7f807267c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7f807267c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7f807267cc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7f807267cc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7f807267cc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7f807267cc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7f807267cc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7f807267cc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7f807267cc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7f807267cc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7f807267cc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7f807267cc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7f807267cc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7f807267cc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7f807267cc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7f807267cc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7f807267cc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7f807267cc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7f807267cc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7f807267cc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7f807267cc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7f807267cc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7f807267cc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7f807267cc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7f807267cc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7f807267cc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7f807267cc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7f807267cc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7f807267cc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7f807267cc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7f807267cc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7f807267cc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556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783525" y="1063775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3D Printing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Three-dee Prin-ting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creates three-dimensional objects layer by layer using computer-controlled equipment.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Creating custom prototypes, medical implants, aerospace components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Additive manufacturing, precise, rapid prototyping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Traditional subtractive manufacturing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3rd Angle Projection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Thurd Ang-guhl Pro-jek-shun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method of orthographic projection used in engineering drawings, where the object is viewed as if it's in the third quadrant.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Detailed drawings of machine parts, architectural plans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Multiple views, dimensions, engineering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1st Angle Projection, isometric projection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15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ACCESSFM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Ak-sess-ef-em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mnemonic used in engineering to remember the seven design factors: Aesthetics, Cost, Customer, Environment, Safety, Size, and Function.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Balancing aesthetics and function in product design, considering environmental impact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Design considerations, mnemonic, engineering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customer preferences in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16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Alloy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Uh-loy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made by combining two or more metallic elements, often to improve properties like strength, corrosion resistance, or conductivity.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Stainless steel, bronze, brass, aircraft-grade aluminum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Metal mixture, properties enhancement, steel alloy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Pure metals, non-metallic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7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Anthropometrics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An-thro-po-met-ricks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study of human body measurements and proportions, essential in design for ergonomics and user comfort.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Designing car interiors for comfort, adjusting office chair dimensions for posture support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Ergonomic design, human dimensions, user-friendly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human comfort in product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8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Automation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Aw-tuh-mey-shun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use of technology and machinery to perform tasks with minimal human intervention, often for increased efficiency and precision.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Robotic assembly lines in car manufacturing, automated packaging systems in factories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Robotics, control systems, industrial processes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Manual labor-intensive processes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9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Batch Production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Batch Pruh-duck-shun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where products are produced in specific quantities (batches), often to accommodate variations in demand.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Baking batches of cookies, pharmaceuticals production in limited quantities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Production runs, flexibility, efficient manufacturing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Continuous mass production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20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Bearings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Bair-ings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components used to reduce friction and support rotating or moving parts in machinery, allowing smooth motion.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Ball bearings in bicycle wheels, roller bearings in conveyor systems, journal bearings in engines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Friction reduction, support, rotational movement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bearings causing friction and wear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1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Belt drive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Belt Dryv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mechanism that uses belts, typically made of rubber or synthetic materials, to transmit power between rotating shafts in machinery.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Belt-driven conveyor systems, bicycle chain drives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transmission, pulley system, flexible drive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Direct shaft coupling in machinery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2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Biodegradable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By-oh-di-gre-duh-buhl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Materials or substances that can naturally break down or decompose into harmless components when exposed to environmental conditions.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Biodegradable plastic bags, organic matter in compost heaps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Environmental friendly, compostable, decomposition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Non-biodegradable plastics, metals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3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Blow Moulding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Bloh Mohl-ding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forms hollow plastic or glass objects by inflating a heated plastic or glass parison (preform) inside a mold cavity.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Producing plastic bottles, containers, automotive parts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Hollow objects, plastic molding, heating and inflating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Forging solid metal objects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CAD (Computer-Aided Design)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C-A-D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use of computer software and technology to create precise and detailed digital representations of physical objects or systems for design and analysis.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Creating 3D models of architectural structures, engineering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3D modeling, precision, virtual design environment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Hand-drawn sketches for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5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CAM (Computer-Aided Manufacturing)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C-A-M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use of computer software and technology to control and automate manufacturing processes and machinery, often in CNC machining.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CNC milling machines, robotic assembly lines, 3D printing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Automated production, precision, CNC integration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Manual machining operations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Cam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Kam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cam, in machinery, transforms circular motion to back-and-forth motion or vice versa. They vary in shape and control functions, like opening valves or moving robot arms.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a wind-up toy car, a cam inside changes circular winding into the car's forward and backward movement.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Cams vary in shape, transforming motion precisely in machinery like car engines, music boxes, and art projects, offering diverse sizes and profiles for various engineering needs.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simple wheel, like that of a bicycle, rotates but lacks the distinct cam shape and motion transformation function found in mechanical cams.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7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Casting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Cas-ting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in which molten material (often metal) is poured into a mold cavity to solidify and take the shape of the mold.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Casting metal parts, sculptures, jewelry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Mold casting, molten material, metal shaping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Forging or machining metal objects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Circuit Diagram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Sir-kut "Dahy-uh-gram"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graphical representation of an electrical circuit, showing the connections between components and their arrangement on a schematic drawing.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Wiring diagrams, electronic circuit schematics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connections, components layout, schematics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random tangle of wires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9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CNC (Computer Numerical Control)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C-N-C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technology that uses computer-controlled machines and tools to perform precise and automated machining operations.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CNC milling, CNC lathe, CNC plasma cutting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Precision machining, automation, computer control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Manual machining or hand tools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0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Composite Materials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Com-po-zit "Muh-teer-ee-uhls"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Materials made by combining two or more different types of materials, often to achieve specific properties or characteristics.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Carbon-fiber composites, fiberglass-reinforced plastics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 combinations, enhanced properties,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Single-material objects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3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Compression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Kuhm-presh-uhn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force that tends to squeeze or shorten a material or object. In engineering, it's often used to describe the application of pressure or force to reduce volume.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Hydraulic presses, compression testing of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Squeezing force, pressure, volume reduction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Tension or pulling forces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2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Conductivity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Con-duhk-tiv-i-tee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ability of a material to allow the flow of electrical current. Conductive materials have low electrical resistance.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Copper, aluminum, and other good conductors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flow, low resistance, conductivity testing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Insulating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Continuous Production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Kuhn-tin-yoo-uhs Pruh-duck-shun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operates around the clock, producing items continuously without stopping for long periods, often for high-demand products.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Bottling plants, chemical processing, continuous rolling mills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Uninterrupted production, high volume, efficiency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Batch production or intermittent operation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3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Control Measure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Kuhn-trohl Meh-zher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engineering and quality control, a specific action or process designed to monitor, regulate, or manage a system to ensure desired outcomes or performance.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Temperature sensors, feedback loops, quality inspections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Monitoring process, regulation, quality control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control or oversight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3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Corrosion Resistance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Kuh-roh-zhuhn Ri-zis-tuhns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ability of a material or coating to withstand and resist damage caused by chemical reactions or environmental factors that lead to corrosion or degradation.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Stainless steel, corrosion-resistant paint, anodized aluminum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Resistance to corrosion, protective coatings, durability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Unprotected metals or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36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Current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Kur-uhnt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electrical circuits, current refers to the flow of electric charge (usually electrons) through a conductor, measured in amperes (A). It can be direct current (DC) or alternating current (AC).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Powering electronic devices, electrical lighting circuits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 charge flow, amperes (A), electrical circuits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 flow of electric charge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37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Destructive testing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Duh-struhk-tiv Tes-ting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type of testing in which a sample or component is intentionally stressed or subjected to conditions that will likely cause it to fail. This method is used to determine a material's limits or weaknesses.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Stress-testing materials, crash tests for vehicles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Testing to failure, material strength, limit analysis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Non-destructive inspection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3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Diodes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Dahy-ohdz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Electronic components that allow current to flow in one direction while blocking it in the opposite direction. Diodes are often used for rectification and signal control in electronic circuits.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Light-emitting diodes (LEDs), power diodes, signal diodes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One-way current flow, rectification, signal control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Bidirectional current flow or open circuits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3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Ductility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Duhk-til-i-tee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property that describes its ability to deform or stretch under tensile stress without breaking or fracturing. Ductile materials are often used in forming and shaping processes.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Drawing wires, metal forging, forming sheet metals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Stretchability, deformation, malleability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Brittle materials prone to fracture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4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Elasticity and Flexibilty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I-las-tis-i-tee and Flek-suh-bil-i-tee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ability of a material to return to its original shape after being stretched or deformed. Elastic and flexible materials are used in applications requiring resilience and deformation recovery.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Rubber bands, elastomers, stretchable fabrics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Deformation recovery, resilience, stretching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Rigid or non-flexible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4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Environmental impact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In-vahy-ruhn-men-tl Im-pakt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effect of a product, process, or activity on the environment, including factors such as resource consumption, pollution, and sustainability. Engineers aim to minimize negative impacts.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Reducing carbon emissions, recycling programs, eco-friendly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Sustainability, resource conservation, pollution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High pollution, resource depletion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4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Ergonomics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Er-guh-nom-iks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science of designing products, systems, and workplaces to optimize human well-being and performance. Ergonomics aims to enhance comfort, safety, and efficiency.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Adjustable office chairs, ergonomic keyboard layout, accessible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Human-centered design, comfort, user-friendly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Uncomfortable and non-user-friendly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43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Extrusion Moulding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Ex-troo-zhuhn Mohl-ding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creates objects with a consistent cross-sectional shape by forcing molten material (typically plastic) through a die or mold.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Plastic pipes, tubing, window frames, extruded profiles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Molten material extrusion, consistent cross-section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Casting or injection molding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4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Ferrous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Fer-uhs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term used to describe materials that contain iron. Ferrous metals are known for their strength and magnetic properties and are commonly used in engineering applications.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Steel, cast iron, stainless steel, iron alloys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Iron-containing materials, magnetic properties,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Non-ferrous materials (without iron)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4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Finishing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Fin-ish-ing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final process applied to a product's surface to improve its appearance, durability, or other properties. It includes painting, plating, and polishing, among others.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Applying a glossy finish to cars, chrome plating for corrosion resistance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Surface treatment, aesthetics, protective coatings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Unfinished or rough surfaces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" name="Google Shape;219;p4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Friction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Frik-shuhn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force that opposes the relative motion or tendency of such motion between two surfaces in contact. Engineers study friction to minimize energy loss and wear.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Brakes slowing down a car, lubricants reducing friction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Surface resistance, energy loss, wear prevention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Ice skating on a frictionless surface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4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Fulcrum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Fuhl-kruhm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point or support on which a lever pivots or rotates when force is applied. Fulcrums are essential in mechanical systems and are used to magnify or redirect forces.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Seesaws, crowbars, and other lever systems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Pivot point, lever operation, mechanical advantage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a pivot point for leverage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4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Fuse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Fyooz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safety device that contains a thin wire that melts when excessive current flows through it, breaking the circuit and preventing damage to components.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Protecting electronic devices from power surges, fuses in electrical panels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Overcurrent protection, circuit interruption, safety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overcurrent protection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4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Gear ratio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Geer Ray-shee-oh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ratio of the number of teeth on two intermeshed gears. Gear ratios determine the speed and torque relationship between input and output shafts in machinery.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Reducing speed and increasing torque in gearboxes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Speed and torque relationship, gear interaction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Direct coupling of shafts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5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Generator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Jen-uh-rey-ter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device that converts mechanical energy into electrical energy through electromagnetic induction. Generators are common in power generation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Powering homes with electricity, wind turbine generators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generation, electromagnetic induction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Devices consuming electrical energy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5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Hardness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Hahrd-nis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property that measures its resistance to deformation, scratching, or penetration. Hard materials are often used for cutting tools and wear resistance.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Diamond cutting tools, hardened steel, ceramic coatings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Resistance to deformation, wear resistance, durability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Soft materials prone to deformation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" name="Google Shape;249;p5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Hazard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Haz-erd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situation or condition with the potential to cause harm, damage, or danger. Engineers identify and mitigate hazards in design and operations to enhance safety.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Identifying chemical hazards in a laboratory, safety protocols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Safety concerns, risk assessment, potential harm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safety concerns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5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Hydraulics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Hahy-draw-liks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technology that uses pressurized fluid (usually oil or water) to transmit power or control mechanical systems. Hydraulics are common in heavy machinery and vehicle braking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Hydraulic excavators, hydraulic brakes in cars, aircraft landing gear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Fluid power transmission, pressure control, hydraulic systems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power transmission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Injection molding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In-jek-shuhn Mohl-ding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creates plastic or rubber objects by injecting molten material into a mold cavity. It's widely used for producing precise and complex parts.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Producing plastic toys, automotive dashboards, medical devices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Molten material injection, precision molding, complex shapes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 carving or manual shaping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55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Insulator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In-suh-ley-ter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that does not easily conduct electricity or heat. Insulators are used to prevent the flow of electrical current and are essential in electrical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Rubber electrical insulation, ceramic insulators, PVC pipes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insulation, thermal resistance, non-conductive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Conductive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5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Intellectual property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In-tuh-lek-choo-uhl Pro-puhr-tee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Legal rights and protections for creative and innovative works, including patents, trademarks, copyrights, and trade secrets. Engineers often deal with IP considerations.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Patenting a new invention, trademarking a company logo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Innovation protection, patents, copyrights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Unprotected or public domain creations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Google Shape;274;p5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Isometric Drawings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I-soh-met-rik Dra-wings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Technical drawings that represent three-dimensional objects in a two-dimensional format using isometric projection. They provide a 3D view of objects for engineering design.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Isometric diagrams of machinery components, piping systems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3D representation, technical illustration, engineering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2D drawings lacking depth perception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5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Just in Time Manufacturing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Juhst in Tahym Man-yuh-fak-chuh-ring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production strategy that aims to reduce inventory costs by producing items only as they are needed for assembly or sale. JIT minimizes waste and excess inventory.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Assembling custom PCs upon customer order, fast-food preparation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Efficient production, waste reduction, supply chain management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Stockpiling excess inventory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5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Lathe Operations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Layth Op-uh-rey-shuhnz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machining process that uses a lathe machine to rotate a workpiece while a cutting tool removes material to create a cylindrical shape or other desired form.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Turning wooden spindles, machining metal shafts, creating threaded rods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Rotational machining, precision turning, cylindrical shapes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Non-rotational machining processes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6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Lever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Lee-vur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simple machine consisting of a rigid bar or rod that pivots at a fixed point (fulcrum). Levers are used to amplify or redirect mechanical force and are fundamental in mechanical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Using a crowbar to lift heavy objects, balancing seesaws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Force multiplication, fulcrum, mechanical advantage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Direct force application or immobile objects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6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Linear motion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Lin-ee-er Mow-shuhn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Movement that occurs in a straight line, without rotation or angular displacement. Linear motion is essential in various engineering applications, such as conveyors and slides.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Sliding doors, linear motion control in robotics, linear stages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Straight-line movement, linear actuators, precision motion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Rotational or circular motion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62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Load-bearing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Loahd-behr-ing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Refers to components, structures, or materials that support and carry the weight or load of other elements in a system or construction. Load-bearing capacity is crucial in engineering design.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Load-bearing walls in buildings, bridge supports, structural beams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Weight support, structural integrity, bearing capacity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Non-load-bearing or fragile structures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6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Machining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Muh-sheen-ing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removing material from a workpiece using cutting tools, such as lathes, milling machines, or drills, to achieve precise shapes, dimensions, or surface finishes.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CNC machining of metal parts, precision milling, thread cutting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 removal, precision shaping, tooling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3D printing or additive manufacturing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6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Maintenance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Meyn-tuh-nuhns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set of activities and tasks performed to keep equipment, machinery, or systems in good working condition and prevent breakdowns or failures. Maintenance is essential for reliability.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Regular oil changes for a car, equipment inspections, software updates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Equipment upkeep, preventive measures, reliability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Neglecting maintenance tasks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Malleability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Mal-ee-uh-bil-i-tee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property that describes its ability to be shaped or formed by applying pressure, without cracking or breaking. Malleable materials are often used in forging and shaping processes.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Forging metal into custom shapes, hammering gold into thin sheets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Shaping without cracking, deformability, pliability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Brittle materials prone to fracture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6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Mass Production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Mas Pro-duhk-shuhn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produces large quantities of standardized products or components at high speed and efficiency. It's often used for consumer goods.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Assembly lines producing smartphones, automobile manufacturing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High-volume production, efficiency, standardized products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Handcrafting or custom production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Materials testing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Muh-teer-ee-uhls Tes-ting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evaluating the properties and characteristics of materials through various tests and experiments to ensure they meet engineering and quality standards.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Tensile strength testing of metals, hardness testing, fatigue testing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Quality assessment, mechanical properties, material analysis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Skipping quality checks or testing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advantage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Muh-kan-i-kuhl Ad-van-tij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ratio of the force output to the force input in a mechanical system. Mechanical advantage indicates how much a machine multiplies or amplifies the input force.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Using a lever to lift a heavy load, pulleys, and gears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Force multiplication, leverage, mechanical efficiency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Direct application of force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9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Milling Operations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Mih-ling Op-uh-rey-shuhnz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machining process that uses a rotating multi-toothed cutter to remove material from a workpiece's surface, creating flat or contoured shapes. Milling is common in precision manufacturing.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CNC milling of metal parts, creating slots and grooves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Surface shaping, precision milling, contouring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Non-precision surface treatment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9" name="Google Shape;339;p70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Motor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Moh-ter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device that converts electrical energy into mechanical energy, generating motion or rotation. Motors are used in a wide range of applications, from vehicles to appliances.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 motors in cars, ceiling fan motors, conveyor belt drives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power generation, electrical to mechanical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Devices consuming mechanical energy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" name="Google Shape;344;p7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 Destructive testing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 Duh-struhk-tiv Tes-ting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testing method used to evaluate the properties and integrity of materials or structures without causing damage or alteration. NDT ensures safety and reliability in engineering.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Ultrasonic testing of welds, X-ray inspection of pipelines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Non-damaging inspection, quality assessment, safety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Destructive testing or altering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7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 Ferrous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 Fer-uhs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term used to describe materials that do not contain iron. Non-ferrous metals, such as aluminum, copper, and brass, are known for their corrosion resistance and electrical conductivity.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Aluminum alloys, copper wiring, brass fittings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Iron-free materials, corrosion resistance, conductivity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Materials containing iron (ferrous)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" name="Google Shape;354;p7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Ohm's Law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Ohmz Law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fundamental principle in electrical engineering that relates voltage (V), current (I), and resistance (R) in an electrical circuit. It's expressed as V = I * R.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Calculating voltage drop in a circuit, determining current flow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relationships, voltage, current, resistance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Disregarding electrical laws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Google Shape;359;p7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One Off Production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Wuhn Awf Pro-duhk-shuhn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approach in which unique or custom-made products are produced as single items or in very limited quantities, often with a high degree of customization.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Craftsmanship of bespoke furniture, custom jewelry design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 manufacturing, uniqueness, low-volume production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Mass production or standardized goods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" name="Google Shape;364;p7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Orthographic Projections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Or-thuh-graf-ik Pro-jek-shuhnz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method of creating two-dimensional technical drawings that represent three-dimensional objects in a standardized and precise manner, using multiple views.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Creating orthographic drawings of mechanical parts, architectural plans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Technical illustration, multiple views, engineering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Freehand sketches or incomplete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7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Pneumatics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Noo-mat-iks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technology that uses compressed air to transmit power and control mechanical systems. Pneumatic systems are common in robotics, manufacturing, and automation.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Pneumatic actuators in robotics, air-powered tools, assembly lines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Air power transmission, pressure control, automation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Hydraulic power transmission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4" name="Google Shape;374;p77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Product Lifecycle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Pro-duhkt Lyf-sy-kul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stages a product goes through from its conception and design to production, distribution, use, and eventual disposal or recycling. Engineers manage the entire product lifecycle.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Planning and designing a new smartphone, recycling old electronics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Design, production, distribution, maintenance, disposal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consideration for product longevity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78"/>
          <p:cNvGraphicFramePr/>
          <p:nvPr/>
        </p:nvGraphicFramePr>
        <p:xfrm>
          <a:off x="783525" y="947900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Project management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Pro-jekt Man-ij-muhnt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systematic planning, execution, and control of projects to achieve specific goals within constraints such as time, budget, and resources. It's essential in engineering project delivery.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Managing construction projects, software development, infrastructure upgrades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Planning and execution, goal achievement, resource management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Unplanned and chaotic project execution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4" name="Google Shape;384;p7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Pulley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Puhl-ee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simple machine consisting of a grooved wheel and a rope or belt that fits into the groove. Pulleys are used to transmit force and change the direction of motion in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Elevator pulley systems, block and tackle setups, clothesline pulleys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Force transmission, direction change, mechanical advantage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Direct force application or fixed systems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" name="Google Shape;389;p8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Quality assurance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Kwah-luh-tee Uh-shoor-uhns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systematic process of ensuring that products or services meet established quality standards and conform to specifications. QA is crucial for product reliability.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Inspecting manufactured parts, software testing, quality audits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Quality control, standard compliance, inspection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quality standards or checks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4" name="Google Shape;394;p8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Quality control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Kwah-luh-tee Kuhn-trohl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inspecting, testing, and monitoring products or services to ensure they meet predetermined quality standards and specifications. QC is vital for product consistency.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Measuring product dimensions, software testing, taste-testing food products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Inspection and testing, standard compliance, defect detection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quality checks or inspections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" name="Google Shape;399;p82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Recipricationg Motion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Reh-suh-proh-key-ting Mow-shuhn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Back-and-forth or repetitive linear motion in a straight line. Reciprocating motion is common in piston engines, pumps, and many mechanical systems.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Pistons in engines, reciprocating saws, bicycle pedals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Back-and-forth motion, linear reciprocation, repetitive action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Continuous circular motion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4" name="Google Shape;404;p83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Resistance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Ri-zis-tuhns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opposition or hindrance to the flow of electrical current, often measured in ohms (Ω). Resistance is a fundamental concept in electrical circuits.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Resistor components in electronic circuits, adjusting circuit resistance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opposition, ohms (Ω), circuit impedance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Unobstructed electrical flow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" name="Google Shape;409;p8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Risk assessment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Risk Uh-ses-muhnt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identifying, evaluating, and prioritizing potential risks and hazards in a project, process, or system. Engineers conduct risk assessments to enhance safety.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Identifying safety risks in a construction project, safety measures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Hazard identification, risk evaluation, safety planning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potential hazards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8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Robotics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Roh-bot-iks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field of engineering that deals with the design, construction, operation, and programming of robots. Robots are used in various industries for automation and tasks.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Industrial robots in manufacturing, robotic surgery, autonomous vehicles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Robot design, automation, programming, artificial intelligence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automation or manual labor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" name="Google Shape;419;p8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Rotary motion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Roh-tuh-ree Mow-shuhn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Circular motion around an axis or center point. Rotary motion is common in engines, turbines, wheels, and other mechanical systems that involve rotation.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Rotating wheels on a car, turbine engine rotation, rotary saw blades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Circular movement, rotation, revolving motion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Linear back-and-forth motion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4" name="Google Shape;424;p8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Rotational Moulding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Roh-tey-shuhn-ul Mohl-ding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used to create hollow plastic or rubber objects by rotating a mold while heating the material, causing it to coat the interior and take its shape.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Plastic kayaks, playground equipment, large storage tanks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Rotational molding, hollow objects, uniform thickness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Injection molding or blow molding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9" name="Google Shape;429;p8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Sensors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Sen-suhrs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Devices or components that detect and measure physical or environmental changes and convert them into electrical signals for monitoring, control, or data collection.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Temperature sensors, motion detectors, pressure sensors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Sensing and measurement, data acquisition, feedback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monitoring or data collection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Google Shape;434;p8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Shear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Sheer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type of force that causes two parts of a material to slide past each other in opposite directions. Shear stress plays a crucial role in structural engineering and material testing.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Cutting metal sheets with shearing tools, testing shear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Sliding forces, material deformation, shear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Tension or compression forces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" name="Google Shape;439;p9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Smart Material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Smart Muh-teer-ee-uhl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Materials that can change their properties or respond to external stimuli, such as temperature, light, or electric fields. Smart materials have applications in engineering and design.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Shape memory alloys, self-healing materials, piezoelectric ceramics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Responsive materials, adaptive properties, stimuli-based changes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Traditional static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Google Shape;444;p91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Soldering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Sawd-er-ing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joining process that involves melting a low-melting-point metal alloy (solder) and using it to bond and connect components, such as electrical wires or electronic circuits.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Soldering electrical connections, assembling circuit boards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Component bonding, electrical connections, solder joints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fastening or adhesive bonding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9" name="Google Shape;449;p9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Stock Forms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Stok Forms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or readily available shapes and sizes of materials, such as metal bars, sheets, or pipes, used as raw materials in manufacturing and engineering processes.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Using steel bars for construction, aluminum sheets for fabrication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material shapes, raw materials, available forms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 shapes or non-standard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4" name="Google Shape;454;p9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Strength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Strengkth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property that measures its ability to withstand an applied force or load without failure or deformation. Strength is essential in structural engineering and design.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Steel beams supporting a bridge, concrete foundations, load-bearing walls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Load-bearing capacity, structural integrity, durability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Weak or brittle materials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9" name="Google Shape;459;p94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Sustainabilty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Sus-tuh-nuh-bil-i-tee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practice of using resources in a way that meets current needs without compromising the ability of future generations to meet their needs. Sustainability is crucial in engineering design.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Designing eco-friendly buildings, renewable energy projects, recycling programs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Environmental responsibility, resource conservation, long-term impact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Short-term resource depletion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4" name="Google Shape;464;p9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Tensile Strength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Ten-suhl Strengkth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maximum stress a material can withstand when subjected to a pulling or stretching force (tension) without breaking or rupturing. Tensile strength is crucial in material selection.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Testing steel cables for bridge support, tensile strength of textiles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Pulling force resistance, tension, material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Brittle materials under tension forces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9" name="Google Shape;469;p9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force that stretches or elongates an object, pulling it in opposite directions. Tension is essential in structures, cables, and materials subject to stretching forces.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Tension in suspension bridges, cable support systems, rubber bands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Stretching force, elongation, pulling effect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Compression or squeezing forces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4" name="Google Shape;474;p9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6Rs of Sustainailty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Six Arz ov Sus-tuh-nuh-bil-i-tee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framework that guides sustainable practices, including Reduce, Reuse, Recycle, Rethink, Refuse, and Repair. Engineers incorporate these principles into design and production.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Recycling materials, reducing energy consumption, reusing products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Sustainable practices, waste reduction, environmental impact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environmental considerations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" name="Google Shape;479;p98"/>
          <p:cNvGraphicFramePr/>
          <p:nvPr/>
        </p:nvGraphicFramePr>
        <p:xfrm>
          <a:off x="783525" y="1063788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Thead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Thred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helical ridge or groove on the surface of a screw, bolt, or nut. Threads are used for fastening and joining components in mechanical assemblies.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Screwing a bolt into a nut, threading pipes, securing parts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Screw threads, fastening, threaded connections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Non-threaded connections or adhesives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4" name="Google Shape;484;p9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Thermistor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Thur-mis-tuhr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type of resistor whose electrical resistance changes significantly with temperature. Thermistors are used for temperature sensing and control in various applications.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Monitoring engine temperature, controlling heating systems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Temperature sensing, resistance-temperature relationship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Fixed resistors or non-temperature-sensitive components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Google Shape;489;p10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Thermoforming Plastics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Thur-moh-fawr-ming Plas-tiks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manufacturing process that involves heating a plastic sheet until it becomes pliable and then forming it into a desired shape using a mold and vacuum or pressure.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Making plastic packaging, blister packs, automotive interior panels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Plastic molding, heat forming, vacuum or pressure shaping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Injection molding or blow molding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" name="Google Shape;494;p101"/>
          <p:cNvGraphicFramePr/>
          <p:nvPr/>
        </p:nvGraphicFramePr>
        <p:xfrm>
          <a:off x="783525" y="790738"/>
          <a:ext cx="9124950" cy="5627752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Thermosetting Plastics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Thur-moh-set-ing Plas-tiks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type of plastic that, when heated and molded, undergoes a chemical change, hardening into a rigid and non-melting form. Thermosetting plastics are used in durable applications.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Making fiberglass composites, electrical insulators, automotive parts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Heat-induced curing, irreversible hardening, durability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Thermoplastic materials or melting plastics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9" name="Google Shape;499;p10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Tolerances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Tol-er-uhns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allowable deviation or variation from a specified measurement, dimension, or quality standard. Tolerances are critical in engineering to ensure proper fit and function.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Tight tolerances in machining, assembly fit tolerances, engineering drawings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Measurement limits, acceptable variation, precision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specified dimensions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03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Torque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Tork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rotational force that causes an object to rotate around an axis. Torque is essential in various mechanical systems, such as engines and motors, to produce rotational motion.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Engine torque output, tightening bolts with a wrench, rotor turning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Rotational force, twisting moment, torque measurement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Linear force or non-rotational movement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9" name="Google Shape;509;p104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Tortion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Tor-shuhn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twisting or rotational deformation caused by a torque or twisting force applied to an object. Torsional stress is important in engineering design and material strength analysis.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Torsion testing of materials, analyzing drive shafts, helicopter rotor blades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Twisting force, rotational deformation, torsional strength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 twisting or torque application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p105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Toughness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Tuhf-nis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material property that describes its ability to absorb energy and resist fracture when subjected to impact or sudden loads. Tough materials can withstand shock and stress.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Shock-absorbing materials, aircraft components, safety helmets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Impact resistance, energy absorption, durability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Brittle materials prone to shattering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9" name="Google Shape;519;p106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Transistors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Tran-zis-tuhrs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Semiconductor devices that control the flow of electrical current in electronic circuits. Transistors are fundamental building blocks in digital and analog electronics.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Transistor-based amplifiers, digital logic gates, electronic components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Electronic control, amplification, switching action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electronic control components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4" name="Google Shape;524;p107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Troubleshooting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Troo-buhl-shoot-ing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identifying and resolving problems or malfunctions in mechanical, electrical, or electronic systems. Troubleshooting is crucial for maintaining functionality.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Debugging computer software, fixing automotive engine issues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Problem-solving, fault diagnosis, system repair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Ignoring system problems or malfunctions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9" name="Google Shape;529;p108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Turbine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Tur-byne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rotary mechanical device that extracts energy from a moving fluid (liquid or gas) and converts it into useful work, such as generating electricity or propelling aircraft.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Gas turbines in aircraft engines, hydroelectric turbines, wind turbines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Energy extraction, fluid-driven rotation, power generation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energy extraction devices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" name="Google Shape;534;p109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Vacuum Forming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Vak-yoom For-ming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plastic molding process that uses vacuum pressure to shape heated plastic sheets around a mold. Vacuum forming is used to create a wide range of plastic products.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Making plastic packaging, display signs, automotive interior parts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Plastic molding, vacuum shaping, heat forming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Injection molding or blow molding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9" name="Google Shape;539;p110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Variable Resistor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Vair-ee-uh-buhl Rez-is-tuhr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 type of resistor whose electrical resistance can be manually adjusted or varied to control the flow of current in a circuit. Variable resistors are used for tuning and control.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Adjusting volume with a potentiometer knob, dimmer switches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Resistance adjustment, potentiometer, rheostat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Fixed resistors or non-adjustable components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" name="Google Shape;544;p111"/>
          <p:cNvGraphicFramePr/>
          <p:nvPr/>
        </p:nvGraphicFramePr>
        <p:xfrm>
          <a:off x="787175" y="947900"/>
          <a:ext cx="91176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5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Voltage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Vol-tij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electrical potential difference or force that drives the flow of electric current in a circuit. Voltage is measured in volts (V) and is a fundamental concept in electronics.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Household electrical outlets, car battery voltage, power lines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 potential, voltage drop, electrical pressure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Lack of electrical potential difference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" name="Google Shape;549;p112"/>
          <p:cNvGraphicFramePr/>
          <p:nvPr/>
        </p:nvGraphicFramePr>
        <p:xfrm>
          <a:off x="783525" y="947900"/>
          <a:ext cx="9124950" cy="5312284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Welding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Weld-ing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process of joining two or more pieces of metal or thermoplastic materials by melting their edges and fusing them together. Welding is crucial in construction and manufacturing.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Arc welding for structural steel, MIG welding for automotive, plastic welding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Metal fusion, joining processes, welding techniques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Mechanical fastening or adhesive bonding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" name="Google Shape;549;p112"/>
          <p:cNvGraphicFramePr/>
          <p:nvPr>
            <p:extLst>
              <p:ext uri="{D42A27DB-BD31-4B8C-83A1-F6EECF244321}">
                <p14:modId xmlns:p14="http://schemas.microsoft.com/office/powerpoint/2010/main" val="1952567185"/>
              </p:ext>
            </p:extLst>
          </p:nvPr>
        </p:nvGraphicFramePr>
        <p:xfrm>
          <a:off x="783525" y="947900"/>
          <a:ext cx="9124950" cy="5254181"/>
        </p:xfrm>
        <a:graphic>
          <a:graphicData uri="http://schemas.openxmlformats.org/drawingml/2006/table">
            <a:tbl>
              <a:tblPr>
                <a:noFill/>
                <a:tableStyleId>{9100490F-98F2-43BE-99F9-DE2E7158CD11}</a:tableStyleId>
              </a:tblPr>
              <a:tblGrid>
                <a:gridCol w="456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Welding</a:t>
                      </a:r>
                      <a:endParaRPr sz="1800" b="1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800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Weld-</a:t>
                      </a:r>
                      <a:r>
                        <a:rPr lang="en-GB" sz="1800" dirty="0" err="1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ing</a:t>
                      </a:r>
                      <a:endParaRPr sz="1800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800" b="1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Examples</a:t>
                      </a:r>
                      <a:endParaRPr sz="1800" b="1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Characteristics</a:t>
                      </a:r>
                      <a:endParaRPr sz="1800" b="1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Non-Examples</a:t>
                      </a:r>
                      <a:endParaRPr sz="1800" b="1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7676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5723</Words>
  <Application>Microsoft Office PowerPoint</Application>
  <PresentationFormat>Custom</PresentationFormat>
  <Paragraphs>1006</Paragraphs>
  <Slides>101</Slides>
  <Notes>101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4" baseType="lpstr">
      <vt:lpstr>Arial</vt:lpstr>
      <vt:lpstr>Century Gothic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Townshend</dc:creator>
  <cp:lastModifiedBy>Stephen Wilson</cp:lastModifiedBy>
  <cp:revision>1</cp:revision>
  <dcterms:modified xsi:type="dcterms:W3CDTF">2025-05-30T17:43:00Z</dcterms:modified>
</cp:coreProperties>
</file>